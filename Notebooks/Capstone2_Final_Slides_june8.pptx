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5F2271-2EC6-4EFC-9821-DD551DE0A4CA}" v="83" dt="2026-06-09T00:21:58.6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7A8A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D7A8A"/>
                </a:solidFill>
                <a:latin typeface="Arial"/>
              </a:rPr>
              <a:t>Top Feature Correlations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Target</c:v>
                </c:pt>
              </c:strCache>
            </c:strRef>
          </c:tx>
          <c:spPr>
            <a:solidFill>
              <a:srgbClr val="0D7A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previous_year_cost</c:v>
                </c:pt>
                <c:pt idx="1">
                  <c:v>hospital_admissions</c:v>
                </c:pt>
                <c:pt idx="2">
                  <c:v>medication_count</c:v>
                </c:pt>
                <c:pt idx="3">
                  <c:v>age</c:v>
                </c:pt>
                <c:pt idx="4">
                  <c:v>bmi</c:v>
                </c:pt>
                <c:pt idx="5">
                  <c:v>smoker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0.87</c:v>
                </c:pt>
                <c:pt idx="1">
                  <c:v>0.61</c:v>
                </c:pt>
                <c:pt idx="2">
                  <c:v>0.54</c:v>
                </c:pt>
                <c:pt idx="3">
                  <c:v>0.43</c:v>
                </c:pt>
                <c:pt idx="4">
                  <c:v>0.31</c:v>
                </c:pt>
                <c:pt idx="5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1A-4FAE-A375-A1A20C5F1E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B3D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A2B3D"/>
                </a:solidFill>
                <a:latin typeface="Arial"/>
              </a:rPr>
              <a:t>Test RMSE (lower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($)</c:v>
                </c:pt>
              </c:strCache>
            </c:strRef>
          </c:tx>
          <c:spPr>
            <a:solidFill>
              <a:srgbClr val="0D7A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CDA-4715-BDA6-015E0EFDB97A}"/>
              </c:ext>
            </c:extLst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CDA-4715-BDA6-015E0EFDB97A}"/>
              </c:ext>
            </c:extLst>
          </c:dPt>
          <c:dPt>
            <c:idx val="2"/>
            <c:invertIfNegative val="0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CDA-4715-BDA6-015E0EFDB97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Ridge Regression</c:v>
                </c:pt>
                <c:pt idx="1">
                  <c:v>Random Forest</c:v>
                </c:pt>
                <c:pt idx="2">
                  <c:v>Gradient Boosting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1780</c:v>
                </c:pt>
                <c:pt idx="1">
                  <c:v>2221</c:v>
                </c:pt>
                <c:pt idx="2">
                  <c:v>2002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CDA-4715-BDA6-015E0EFDB9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B3D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A2B3D"/>
                </a:solidFill>
                <a:latin typeface="Arial"/>
              </a:rPr>
              <a:t>Test MAE (lower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($)</c:v>
                </c:pt>
              </c:strCache>
            </c:strRef>
          </c:tx>
          <c:spPr>
            <a:solidFill>
              <a:srgbClr val="0D7A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9A0-42B2-84B0-AC6C4DF2CEE0}"/>
              </c:ext>
            </c:extLst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9A0-42B2-84B0-AC6C4DF2CEE0}"/>
              </c:ext>
            </c:extLst>
          </c:dPt>
          <c:dPt>
            <c:idx val="2"/>
            <c:invertIfNegative val="0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9A0-42B2-84B0-AC6C4DF2CEE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Ridge Regression</c:v>
                </c:pt>
                <c:pt idx="1">
                  <c:v>Random Forest</c:v>
                </c:pt>
                <c:pt idx="2">
                  <c:v>Gradient Boosting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1444</c:v>
                </c:pt>
                <c:pt idx="1">
                  <c:v>1776</c:v>
                </c:pt>
                <c:pt idx="2">
                  <c:v>1596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9A0-42B2-84B0-AC6C4DF2CE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B3D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A2B3D"/>
                </a:solidFill>
                <a:latin typeface="Arial"/>
              </a:rPr>
              <a:t>Test R² (higher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0D7A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56-4A0C-99F7-1836FA7D7B06}"/>
              </c:ext>
            </c:extLst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56-4A0C-99F7-1836FA7D7B06}"/>
              </c:ext>
            </c:extLst>
          </c:dPt>
          <c:dPt>
            <c:idx val="2"/>
            <c:invertIfNegative val="0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56-4A0C-99F7-1836FA7D7B0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Ridge Regression</c:v>
                </c:pt>
                <c:pt idx="1">
                  <c:v>Random Forest</c:v>
                </c:pt>
                <c:pt idx="2">
                  <c:v>Gradient Boosting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0.93049999999999999</c:v>
                </c:pt>
                <c:pt idx="1">
                  <c:v>0.89180000000000004</c:v>
                </c:pt>
                <c:pt idx="2">
                  <c:v>0.91210000000000002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E56-4A0C-99F7-1836FA7D7B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.8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B3D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A2B3D"/>
                </a:solidFill>
                <a:latin typeface="Arial"/>
              </a:rPr>
              <a:t>Test MAPE % (lower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 (%)</c:v>
                </c:pt>
              </c:strCache>
            </c:strRef>
          </c:tx>
          <c:spPr>
            <a:solidFill>
              <a:srgbClr val="0D7A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27A-4885-AE2E-01A1ABD1A630}"/>
              </c:ext>
            </c:extLst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27A-4885-AE2E-01A1ABD1A630}"/>
              </c:ext>
            </c:extLst>
          </c:dPt>
          <c:dPt>
            <c:idx val="2"/>
            <c:invertIfNegative val="0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27A-4885-AE2E-01A1ABD1A63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Ridge Regression</c:v>
                </c:pt>
                <c:pt idx="1">
                  <c:v>Random Forest</c:v>
                </c:pt>
                <c:pt idx="2">
                  <c:v>Gradient Boosting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6.3</c:v>
                </c:pt>
                <c:pt idx="1">
                  <c:v>7.66</c:v>
                </c:pt>
                <c:pt idx="2">
                  <c:v>6.86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27A-4885-AE2E-01A1ABD1A63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B3D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A2B3D"/>
                </a:solidFill>
                <a:latin typeface="Arial"/>
              </a:rPr>
              <a:t>Relative Feature Importance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D7A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5D4-4F36-B03B-C2B4EA6467FE}"/>
              </c:ext>
            </c:extLst>
          </c:dPt>
          <c:dPt>
            <c:idx val="1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5D4-4F36-B03B-C2B4EA6467FE}"/>
              </c:ext>
            </c:extLst>
          </c:dPt>
          <c:dPt>
            <c:idx val="2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5D4-4F36-B03B-C2B4EA6467FE}"/>
              </c:ext>
            </c:extLst>
          </c:dPt>
          <c:dPt>
            <c:idx val="3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5D4-4F36-B03B-C2B4EA6467FE}"/>
              </c:ext>
            </c:extLst>
          </c:dPt>
          <c:dPt>
            <c:idx val="4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5D4-4F36-B03B-C2B4EA6467FE}"/>
              </c:ext>
            </c:extLst>
          </c:dPt>
          <c:dPt>
            <c:idx val="5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5D4-4F36-B03B-C2B4EA6467FE}"/>
              </c:ext>
            </c:extLst>
          </c:dPt>
          <c:dPt>
            <c:idx val="6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5D4-4F36-B03B-C2B4EA6467FE}"/>
              </c:ext>
            </c:extLst>
          </c:dPt>
          <c:dPt>
            <c:idx val="7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5D4-4F36-B03B-C2B4EA6467FE}"/>
              </c:ext>
            </c:extLst>
          </c:dPt>
          <c:dPt>
            <c:idx val="8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5D4-4F36-B03B-C2B4EA6467FE}"/>
              </c:ext>
            </c:extLst>
          </c:dPt>
          <c:dPt>
            <c:idx val="9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E5D4-4F36-B03B-C2B4EA6467F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previous_year_cost</c:v>
                </c:pt>
                <c:pt idx="1">
                  <c:v>hospital_admissions</c:v>
                </c:pt>
                <c:pt idx="2">
                  <c:v>age</c:v>
                </c:pt>
                <c:pt idx="3">
                  <c:v>stress_level</c:v>
                </c:pt>
                <c:pt idx="4">
                  <c:v>doctor_visits</c:v>
                </c:pt>
                <c:pt idx="5">
                  <c:v>smoker_Yes</c:v>
                </c:pt>
                <c:pt idx="6">
                  <c:v>daily_steps</c:v>
                </c:pt>
                <c:pt idx="7">
                  <c:v>sleep_hours</c:v>
                </c:pt>
                <c:pt idx="8">
                  <c:v>bmi</c:v>
                </c:pt>
                <c:pt idx="9">
                  <c:v>insurance_coverage_pct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0.89400000000000002</c:v>
                </c:pt>
                <c:pt idx="1">
                  <c:v>1.7000000000000001E-2</c:v>
                </c:pt>
                <c:pt idx="2">
                  <c:v>1.6E-2</c:v>
                </c:pt>
                <c:pt idx="3">
                  <c:v>1.0999999999999999E-2</c:v>
                </c:pt>
                <c:pt idx="4">
                  <c:v>8.9999999999999993E-3</c:v>
                </c:pt>
                <c:pt idx="5">
                  <c:v>8.9999999999999993E-3</c:v>
                </c:pt>
                <c:pt idx="6">
                  <c:v>7.0000000000000001E-3</c:v>
                </c:pt>
                <c:pt idx="7">
                  <c:v>6.0000000000000001E-3</c:v>
                </c:pt>
                <c:pt idx="8">
                  <c:v>6.0000000000000001E-3</c:v>
                </c:pt>
                <c:pt idx="9">
                  <c:v>5.0000000000000001E-3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E5D4-4F36-B03B-C2B4EA6467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9C897B-23F9-43D3-813E-81CE72748221}" type="datetimeFigureOut">
              <a:t>08/06/2026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A679F9-0FEE-4BF7-9021-E719B7EFD07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0372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Cost Prediction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11480" y="20574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E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Two  ·  Final Project Presentation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2633472"/>
            <a:ext cx="2926080" cy="36576"/>
          </a:xfrm>
          <a:prstGeom prst="rect">
            <a:avLst/>
          </a:prstGeom>
          <a:solidFill>
            <a:srgbClr val="14A4B8"/>
          </a:solidFill>
          <a:ln w="12700">
            <a:solidFill>
              <a:srgbClr val="14A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926080"/>
            <a:ext cx="1920240" cy="1280160"/>
          </a:xfrm>
          <a:prstGeom prst="rect">
            <a:avLst/>
          </a:prstGeom>
          <a:solidFill>
            <a:srgbClr val="0D3D52"/>
          </a:solidFill>
          <a:ln w="12700">
            <a:solidFill>
              <a:srgbClr val="0D7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9992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E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35935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2926080"/>
            <a:ext cx="1920240" cy="1280160"/>
          </a:xfrm>
          <a:prstGeom prst="rect">
            <a:avLst/>
          </a:prstGeom>
          <a:solidFill>
            <a:srgbClr val="0D3D52"/>
          </a:solidFill>
          <a:ln w="12700">
            <a:solidFill>
              <a:srgbClr val="0D7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29992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E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35935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2926080"/>
            <a:ext cx="1920240" cy="1280160"/>
          </a:xfrm>
          <a:prstGeom prst="rect">
            <a:avLst/>
          </a:prstGeom>
          <a:solidFill>
            <a:srgbClr val="0D3D52"/>
          </a:solidFill>
          <a:ln w="12700">
            <a:solidFill>
              <a:srgbClr val="0D7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29992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5ED3DF"/>
                </a:solidFill>
                <a:latin typeface="Calibri"/>
                <a:ea typeface="Calibri"/>
                <a:cs typeface="Calibri"/>
              </a:rPr>
              <a:t>0.9958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09160" y="35935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0" y="2926080"/>
            <a:ext cx="1920240" cy="1280160"/>
          </a:xfrm>
          <a:prstGeom prst="rect">
            <a:avLst/>
          </a:prstGeom>
          <a:solidFill>
            <a:srgbClr val="0D3D52"/>
          </a:solidFill>
          <a:ln w="12700">
            <a:solidFill>
              <a:srgbClr val="0D7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29992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5ED3DF"/>
                </a:solidFill>
                <a:latin typeface="Calibri"/>
                <a:ea typeface="Calibri"/>
                <a:cs typeface="Calibri"/>
              </a:rPr>
              <a:t>$454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58000" y="35935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4805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 ·  Random Forest  ·  Gradient Boosting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120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companies and healthcare providers face a significant challenge in accurately forecasting individual medical costs.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Underestimating costs → financial losses and under-provisioned care.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Overestimating costs → unnecessarily higher premiums.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regression model that leverages patient demographics, health conditions, and lifestyle factors provides a more objective and reproducible alternative to manual actuarial methods.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0" y="822960"/>
            <a:ext cx="3200400" cy="13716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06440" y="8686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06440" y="126187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annual medical cost from 20 patient attributes and surface the key cost drivers.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0" y="2331720"/>
            <a:ext cx="3200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06440" y="2395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06440" y="2788920"/>
            <a:ext cx="2926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synthetic patient records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Method applied end-to-end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regression models evaluated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hyperparameter tuning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651760" cy="10058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046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3075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749808"/>
            <a:ext cx="2651760" cy="10058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8046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0" y="13075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749808"/>
            <a:ext cx="2651760" cy="10058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8046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$500–$85K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13075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Range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01952"/>
          <a:ext cx="8595360" cy="2967228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age (18–74)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Mass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Smoker status (Yes/No)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 / hypertension / heart_disease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 condition flags (0/1)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hospital_admissions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Admissions in the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medication_count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active medications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previous_year_cost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cost — prior year ($)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insurance_coverage_pct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costs covered by insurer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city_type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 / Semi-Urban / Rural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annual_medical_cost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— current year cost ($)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B3D"/>
          </a:solidFill>
          <a:ln w="12700">
            <a:solidFill>
              <a:srgbClr val="0A2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Data Wrangling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91440" cy="19202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Inspect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3840480" cy="1325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CSV loaded into </a:t>
            </a:r>
            <a:r>
              <a:rPr lang="en-US" sz="125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DataFrame</a:t>
            </a:r>
            <a:endParaRPr lang="en-US" sz="1250" dirty="0" err="1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Checked shape, </a:t>
            </a:r>
            <a:r>
              <a:rPr lang="en-US" sz="125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dtypes</a:t>
            </a:r>
            <a:r>
              <a:rPr lang="en-US" sz="125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, nulls</a:t>
            </a:r>
            <a:endParaRPr lang="en-US" sz="125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rows × 20 cols confirmed</a:t>
            </a:r>
            <a:endParaRPr lang="en-US" sz="1250" dirty="0"/>
          </a:p>
          <a:p>
            <a:pPr marL="0" indent="0">
              <a:buNone/>
            </a:pPr>
            <a:endParaRPr lang="en-US" sz="125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04672"/>
            <a:ext cx="91440" cy="19202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896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307592"/>
            <a:ext cx="3840480" cy="1325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Data was checked for missing values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Patients with insurance but 0% coverage flagged as invalid and re-coded to </a:t>
            </a:r>
            <a:r>
              <a:rPr lang="en-US" sz="125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NaN</a:t>
            </a:r>
            <a:r>
              <a:rPr lang="en-US" sz="125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before imputation</a:t>
            </a:r>
          </a:p>
        </p:txBody>
      </p:sp>
      <p:sp>
        <p:nvSpPr>
          <p:cNvPr id="12" name="Shape 10"/>
          <p:cNvSpPr/>
          <p:nvPr/>
        </p:nvSpPr>
        <p:spPr>
          <a:xfrm>
            <a:off x="274320" y="2889504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9504"/>
            <a:ext cx="91440" cy="19202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809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Handling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392424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High-cost patients retained — they reflect genuine clinical variation, not data errors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09160" y="2889504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89504"/>
            <a:ext cx="91440" cy="19202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809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392424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duplicate check performed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rows found in dataset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B3D"/>
          </a:solidFill>
          <a:ln w="12700">
            <a:solidFill>
              <a:srgbClr val="0A2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Exploratory Data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846320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7782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4480560" cy="3383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distributions confirmed in cost variables via box plots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Strong linear correlations found between </a:t>
            </a:r>
            <a:r>
              <a:rPr lang="en-US" sz="125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previous_year_cost</a:t>
            </a:r>
            <a:r>
              <a:rPr lang="en-US" sz="125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25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hospital_admissions</a:t>
            </a:r>
            <a:r>
              <a:rPr lang="en-US" sz="125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25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medication_count</a:t>
            </a:r>
            <a:r>
              <a:rPr lang="en-US" sz="125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, and target</a:t>
            </a:r>
            <a:endParaRPr lang="en-US" sz="125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Smokers consistently incur higher costs across all age groups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multiple chronic conditions show compounding cost increases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>
              <a:buSzPct val="100000"/>
            </a:pPr>
            <a:endParaRPr lang="en-US" sz="125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graphicFrame>
        <p:nvGraphicFramePr>
          <p:cNvPr id="7" name="Chart 0"/>
          <p:cNvGraphicFramePr/>
          <p:nvPr/>
        </p:nvGraphicFramePr>
        <p:xfrm>
          <a:off x="5349240" y="804672"/>
          <a:ext cx="3520440" cy="4096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B3D"/>
          </a:solidFill>
          <a:ln w="12700">
            <a:solidFill>
              <a:srgbClr val="0A2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Feature Engineering &amp; Preprocessing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566928" cy="193852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44752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8961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Imputation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1335024"/>
            <a:ext cx="33832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insurance_type NaNs → filled with 'None'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insurance_coverage_pct NaNs → filled with 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605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04672"/>
            <a:ext cx="566928" cy="193852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444752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94960" y="8961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394960" y="1335024"/>
            <a:ext cx="33832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pd.get_dummies(drop_first=True) applied to: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smoker, physical_activity_level,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insurance_type, city_type → 7 binary dummy cols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07792"/>
            <a:ext cx="41605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07792"/>
            <a:ext cx="566928" cy="193852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547872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29992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3438144"/>
            <a:ext cx="33832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all 14 continuous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columns (zero mean, unit variance)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Binary/dummy columns left on 0/1 scale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907792"/>
            <a:ext cx="41605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07792"/>
            <a:ext cx="566928" cy="193852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547872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94960" y="29992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394960" y="3438144"/>
            <a:ext cx="33832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random split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= 42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4,000 training | 1,000 test rows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B3D"/>
          </a:solidFill>
          <a:ln w="12700">
            <a:solidFill>
              <a:srgbClr val="0A2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Modeling Approach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1576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715768" cy="62179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Hyperparameters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47088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10.0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Method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9992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∈ {0.01, 0.1, 1, 10, 100}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2532888" cy="1005840"/>
          </a:xfrm>
          <a:prstGeom prst="rect">
            <a:avLst/>
          </a:prstGeom>
          <a:solidFill>
            <a:srgbClr val="D0EEF0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3721608"/>
            <a:ext cx="23774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regularization; best for linear relationships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72968" y="804672"/>
            <a:ext cx="271576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804672"/>
            <a:ext cx="2715768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841248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0128" y="15361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Hyperparameters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1847088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n_estimators=200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max_depth=20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min_samples_split=2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10128" y="26974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Method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29992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param grid search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64408" y="3657600"/>
            <a:ext cx="2532888" cy="1005840"/>
          </a:xfrm>
          <a:prstGeom prst="rect">
            <a:avLst/>
          </a:prstGeom>
          <a:solidFill>
            <a:srgbClr val="D0F0E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721608"/>
            <a:ext cx="23774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trees; handles non-linearity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71616" y="804672"/>
            <a:ext cx="271576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1616" y="804672"/>
            <a:ext cx="2715768" cy="6217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841248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08776" y="15361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Hyperparameters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08776" y="1847088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n_estimators=200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learning_rate=0.1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08776" y="26974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Method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08776" y="29992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param grid search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63056" y="3657600"/>
            <a:ext cx="2532888" cy="1005840"/>
          </a:xfrm>
          <a:prstGeom prst="rect">
            <a:avLst/>
          </a:prstGeom>
          <a:solidFill>
            <a:srgbClr val="E0E0F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3721608"/>
            <a:ext cx="23774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boosting; strong on feature interactions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tuned using 5-fold cross-validation on the training set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Model Performance Results</a:t>
            </a:r>
            <a:endParaRPr lang="en-US" sz="2200" dirty="0"/>
          </a:p>
        </p:txBody>
      </p:sp>
      <p:sp>
        <p:nvSpPr>
          <p:cNvPr id="4" name="Shape 6"/>
          <p:cNvSpPr/>
          <p:nvPr/>
        </p:nvSpPr>
        <p:spPr>
          <a:xfrm>
            <a:off x="2487168" y="2633472"/>
            <a:ext cx="1938528" cy="1417320"/>
          </a:xfrm>
          <a:prstGeom prst="rect">
            <a:avLst/>
          </a:prstGeom>
          <a:solidFill>
            <a:srgbClr val="0A2B3D"/>
          </a:solidFill>
          <a:ln w="12700">
            <a:solidFill>
              <a:srgbClr val="0A2B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87168" y="2688336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 RMSE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487168" y="301752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$454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487168" y="35844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prediction error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08576" y="2633472"/>
            <a:ext cx="1938528" cy="1417320"/>
          </a:xfrm>
          <a:prstGeom prst="rect">
            <a:avLst/>
          </a:prstGeom>
          <a:solidFill>
            <a:srgbClr val="14A4B8"/>
          </a:solidFill>
          <a:ln w="12700">
            <a:solidFill>
              <a:srgbClr val="14A4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08576" y="2688336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608576" y="301752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$275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608576" y="35844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729984" y="2633472"/>
            <a:ext cx="1938528" cy="1417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29984" y="2688336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29984" y="301752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5.13%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729984" y="35844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% error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solidFill>
            <a:srgbClr val="E0F7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Selected Final Model — highest R² and lowest RMSE on the held-out test set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14</a:t>
            </a:r>
            <a:endParaRPr lang="en-US" sz="9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6371C47-0B3E-2F3D-4948-03D2EB695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815798"/>
              </p:ext>
            </p:extLst>
          </p:nvPr>
        </p:nvGraphicFramePr>
        <p:xfrm>
          <a:off x="363681" y="798801"/>
          <a:ext cx="8355230" cy="165751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55028">
                  <a:extLst>
                    <a:ext uri="{9D8B030D-6E8A-4147-A177-3AD203B41FA5}">
                      <a16:colId xmlns:a16="http://schemas.microsoft.com/office/drawing/2014/main" val="722155028"/>
                    </a:ext>
                  </a:extLst>
                </a:gridCol>
                <a:gridCol w="1221884">
                  <a:extLst>
                    <a:ext uri="{9D8B030D-6E8A-4147-A177-3AD203B41FA5}">
                      <a16:colId xmlns:a16="http://schemas.microsoft.com/office/drawing/2014/main" val="1438799146"/>
                    </a:ext>
                  </a:extLst>
                </a:gridCol>
                <a:gridCol w="1208232">
                  <a:extLst>
                    <a:ext uri="{9D8B030D-6E8A-4147-A177-3AD203B41FA5}">
                      <a16:colId xmlns:a16="http://schemas.microsoft.com/office/drawing/2014/main" val="4096181285"/>
                    </a:ext>
                  </a:extLst>
                </a:gridCol>
                <a:gridCol w="1221884">
                  <a:extLst>
                    <a:ext uri="{9D8B030D-6E8A-4147-A177-3AD203B41FA5}">
                      <a16:colId xmlns:a16="http://schemas.microsoft.com/office/drawing/2014/main" val="2529182667"/>
                    </a:ext>
                  </a:extLst>
                </a:gridCol>
                <a:gridCol w="1180927">
                  <a:extLst>
                    <a:ext uri="{9D8B030D-6E8A-4147-A177-3AD203B41FA5}">
                      <a16:colId xmlns:a16="http://schemas.microsoft.com/office/drawing/2014/main" val="2918243447"/>
                    </a:ext>
                  </a:extLst>
                </a:gridCol>
                <a:gridCol w="1167275">
                  <a:extLst>
                    <a:ext uri="{9D8B030D-6E8A-4147-A177-3AD203B41FA5}">
                      <a16:colId xmlns:a16="http://schemas.microsoft.com/office/drawing/2014/main" val="3363409789"/>
                    </a:ext>
                  </a:extLst>
                </a:gridCol>
              </a:tblGrid>
              <a:tr h="46755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b="1" spc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Model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D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b="1" spc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CV RMSE (mean)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D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b="1" spc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CV RMSE (std)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D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b="1" spc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Test MAE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D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b="1" spc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Test RMSE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D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b="1" spc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Test R²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114327"/>
                  </a:ext>
                </a:extLst>
              </a:tr>
              <a:tr h="27274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b="1" spc="0">
                          <a:solidFill>
                            <a:srgbClr val="141414"/>
                          </a:solidFill>
                          <a:effectLst/>
                          <a:latin typeface="Arial" panose="020B0604020202020204" pitchFamily="34" charset="0"/>
                        </a:rPr>
                        <a:t>Ridge Regression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spc="0">
                          <a:solidFill>
                            <a:srgbClr val="141414"/>
                          </a:solidFill>
                          <a:effectLst/>
                          <a:latin typeface="Arial" panose="020B0604020202020204" pitchFamily="34" charset="0"/>
                        </a:rPr>
                        <a:t>$2,212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spc="0">
                          <a:solidFill>
                            <a:srgbClr val="141414"/>
                          </a:solidFill>
                          <a:effectLst/>
                          <a:latin typeface="Arial" panose="020B0604020202020204" pitchFamily="34" charset="0"/>
                        </a:rPr>
                        <a:t>$138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spc="0">
                          <a:solidFill>
                            <a:srgbClr val="141414"/>
                          </a:solidFill>
                          <a:effectLst/>
                          <a:latin typeface="Arial" panose="020B0604020202020204" pitchFamily="34" charset="0"/>
                        </a:rPr>
                        <a:t>$1,383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spc="0">
                          <a:solidFill>
                            <a:srgbClr val="141414"/>
                          </a:solidFill>
                          <a:effectLst/>
                          <a:latin typeface="Arial" panose="020B0604020202020204" pitchFamily="34" charset="0"/>
                        </a:rPr>
                        <a:t>$2,073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spc="0">
                          <a:solidFill>
                            <a:srgbClr val="141414"/>
                          </a:solidFill>
                          <a:effectLst/>
                          <a:latin typeface="Arial" panose="020B0604020202020204" pitchFamily="34" charset="0"/>
                        </a:rPr>
                        <a:t>0.9119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108710"/>
                  </a:ext>
                </a:extLst>
              </a:tr>
              <a:tr h="39511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b="1" spc="0">
                          <a:solidFill>
                            <a:srgbClr val="141414"/>
                          </a:solidFill>
                          <a:effectLst/>
                          <a:latin typeface="Arial" panose="020B0604020202020204" pitchFamily="34" charset="0"/>
                        </a:rPr>
                        <a:t>Random Forest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spc="0">
                          <a:solidFill>
                            <a:srgbClr val="141414"/>
                          </a:solidFill>
                          <a:effectLst/>
                          <a:latin typeface="Arial" panose="020B0604020202020204" pitchFamily="34" charset="0"/>
                        </a:rPr>
                        <a:t>$1,095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spc="0">
                          <a:solidFill>
                            <a:srgbClr val="141414"/>
                          </a:solidFill>
                          <a:effectLst/>
                          <a:latin typeface="Arial" panose="020B0604020202020204" pitchFamily="34" charset="0"/>
                        </a:rPr>
                        <a:t>$77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spc="0">
                          <a:solidFill>
                            <a:srgbClr val="141414"/>
                          </a:solidFill>
                          <a:effectLst/>
                          <a:latin typeface="Arial" panose="020B0604020202020204" pitchFamily="34" charset="0"/>
                        </a:rPr>
                        <a:t>$627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spc="0">
                          <a:solidFill>
                            <a:srgbClr val="141414"/>
                          </a:solidFill>
                          <a:effectLst/>
                          <a:latin typeface="Arial" panose="020B0604020202020204" pitchFamily="34" charset="0"/>
                        </a:rPr>
                        <a:t>$1,011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spc="0">
                          <a:solidFill>
                            <a:srgbClr val="141414"/>
                          </a:solidFill>
                          <a:effectLst/>
                          <a:latin typeface="Arial" panose="020B0604020202020204" pitchFamily="34" charset="0"/>
                        </a:rPr>
                        <a:t>0.9790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76972"/>
                  </a:ext>
                </a:extLst>
              </a:tr>
              <a:tr h="52211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b="1" spc="0">
                          <a:solidFill>
                            <a:srgbClr val="141414"/>
                          </a:solidFill>
                          <a:effectLst/>
                          <a:latin typeface="Arial" panose="020B0604020202020204" pitchFamily="34" charset="0"/>
                        </a:rPr>
                        <a:t>Gradient Boosting </a:t>
                      </a:r>
                      <a:r>
                        <a:rPr lang="en-GB" sz="975" b="1" spc="0">
                          <a:solidFill>
                            <a:srgbClr val="141414"/>
                          </a:solidFill>
                          <a:effectLst/>
                          <a:latin typeface="PingFang SC"/>
                        </a:rPr>
                        <a:t>★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spc="0">
                          <a:solidFill>
                            <a:srgbClr val="141414"/>
                          </a:solidFill>
                          <a:effectLst/>
                          <a:latin typeface="Arial" panose="020B0604020202020204" pitchFamily="34" charset="0"/>
                        </a:rPr>
                        <a:t>$450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spc="0">
                          <a:solidFill>
                            <a:srgbClr val="141414"/>
                          </a:solidFill>
                          <a:effectLst/>
                          <a:latin typeface="Arial" panose="020B0604020202020204" pitchFamily="34" charset="0"/>
                        </a:rPr>
                        <a:t>$62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spc="0">
                          <a:solidFill>
                            <a:srgbClr val="141414"/>
                          </a:solidFill>
                          <a:effectLst/>
                          <a:latin typeface="Arial" panose="020B0604020202020204" pitchFamily="34" charset="0"/>
                        </a:rPr>
                        <a:t>$275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spc="0">
                          <a:solidFill>
                            <a:srgbClr val="141414"/>
                          </a:solidFill>
                          <a:effectLst/>
                          <a:latin typeface="Arial" panose="020B0604020202020204" pitchFamily="34" charset="0"/>
                        </a:rPr>
                        <a:t>$454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975" spc="0">
                          <a:solidFill>
                            <a:srgbClr val="141414"/>
                          </a:solidFill>
                          <a:effectLst/>
                          <a:latin typeface="Arial" panose="020B0604020202020204" pitchFamily="34" charset="0"/>
                        </a:rPr>
                        <a:t>0.9958</a:t>
                      </a:r>
                      <a:endParaRPr lang="en-GB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718" marR="25718" marT="25718" marB="25718" anchor="ctr">
                    <a:lnL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628530"/>
                  </a:ext>
                </a:extLst>
              </a:tr>
            </a:tbl>
          </a:graphicData>
        </a:graphic>
      </p:graphicFrame>
      <p:sp>
        <p:nvSpPr>
          <p:cNvPr id="25" name="Shape 6">
            <a:extLst>
              <a:ext uri="{FF2B5EF4-FFF2-40B4-BE49-F238E27FC236}">
                <a16:creationId xmlns:a16="http://schemas.microsoft.com/office/drawing/2014/main" id="{2A39583B-8108-400B-A6F1-37684887376C}"/>
              </a:ext>
            </a:extLst>
          </p:cNvPr>
          <p:cNvSpPr/>
          <p:nvPr/>
        </p:nvSpPr>
        <p:spPr>
          <a:xfrm>
            <a:off x="473929" y="2633472"/>
            <a:ext cx="1938528" cy="1417320"/>
          </a:xfrm>
          <a:prstGeom prst="rect">
            <a:avLst/>
          </a:prstGeom>
          <a:solidFill>
            <a:srgbClr val="0A2B3D"/>
          </a:solidFill>
          <a:ln w="12700">
            <a:solidFill>
              <a:srgbClr val="0A2B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75742C22-0AD4-4709-D679-47E4C4475585}"/>
              </a:ext>
            </a:extLst>
          </p:cNvPr>
          <p:cNvSpPr/>
          <p:nvPr/>
        </p:nvSpPr>
        <p:spPr>
          <a:xfrm>
            <a:off x="473929" y="2698077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 R2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E5DFA745-9F56-45A2-7EE7-CBE1CB14F3AA}"/>
              </a:ext>
            </a:extLst>
          </p:cNvPr>
          <p:cNvSpPr/>
          <p:nvPr/>
        </p:nvSpPr>
        <p:spPr>
          <a:xfrm>
            <a:off x="548614" y="3037003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0.9958</a:t>
            </a: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3EE1D36C-0DCC-BC1D-BEF7-C8A67C45E636}"/>
              </a:ext>
            </a:extLst>
          </p:cNvPr>
          <p:cNvSpPr/>
          <p:nvPr/>
        </p:nvSpPr>
        <p:spPr>
          <a:xfrm>
            <a:off x="548614" y="3564965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99.6% variance explained</a:t>
            </a:r>
            <a:endParaRPr lang="en-US" sz="10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Visual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28600" y="749808"/>
          <a:ext cx="420624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09160" y="749808"/>
          <a:ext cx="420624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228600" y="2926080"/>
          <a:ext cx="42062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Chart 3"/>
          <p:cNvGraphicFramePr/>
          <p:nvPr/>
        </p:nvGraphicFramePr>
        <p:xfrm>
          <a:off x="4709160" y="2926080"/>
          <a:ext cx="42062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8" name="Text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B3D"/>
          </a:solidFill>
          <a:ln w="12700">
            <a:solidFill>
              <a:srgbClr val="0A2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Gradient Boosting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28600" y="749808"/>
          <a:ext cx="53035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15000" y="804672"/>
            <a:ext cx="3154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15000" y="804672"/>
            <a:ext cx="658368" cy="7132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0" y="98755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46520" y="859536"/>
            <a:ext cx="23591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previous_year_cost dominates — patients with high prior costs will almost certainly remain high-cost.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715000" y="1609344"/>
            <a:ext cx="3154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15000" y="1609344"/>
            <a:ext cx="658368" cy="7132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0" y="179222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0.017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46520" y="1664208"/>
            <a:ext cx="23591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hospital_admissions: each admission adds ~$2,200 in annual cost.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715000" y="2414016"/>
            <a:ext cx="3154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15000" y="2414016"/>
            <a:ext cx="658368" cy="7132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0" y="259689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0.016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46520" y="2468880"/>
            <a:ext cx="23591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older patients carry higher baseline cost risk.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715000" y="3218688"/>
            <a:ext cx="3154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15000" y="3218688"/>
            <a:ext cx="658368" cy="7132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5000" y="340156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46520" y="3273552"/>
            <a:ext cx="23591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stress_level: elevated stress correlates with increased healthcare utilization.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715000" y="4023360"/>
            <a:ext cx="3154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715000" y="4023360"/>
            <a:ext cx="658368" cy="7132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15000" y="420624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46520" y="4078224"/>
            <a:ext cx="23591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smoker_Yes: smoking status adds ~$3,500/year after controlling for other factors.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of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566928" cy="195681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6304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877824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Year Cost is the Strongest Predictor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1371600"/>
            <a:ext cx="3364992" cy="12984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Patients with high prior costs are very likely to remain high-cost — ideal candidates for proactive care management.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6052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04672"/>
            <a:ext cx="566928" cy="195681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46304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94960" y="877824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&amp; Hospital Admissions Amplify Costs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394960" y="1371600"/>
            <a:ext cx="336499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Smokers incur ~$3,500 more annually. Each hospital admission adds ~$2,200. Patients with multiple chronic conditions show compounding cost increases.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6052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566928" cy="195681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584448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2999232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Factors Provide Incremental Signal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3493008"/>
            <a:ext cx="336499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daily steps and adequate sleep are associated with lower costs. Elevated stress scores correlate with increased cost — consistent with published epidemiology.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926080"/>
            <a:ext cx="416052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26080"/>
            <a:ext cx="566928" cy="195681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584448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94960" y="2999232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Generalizes Well — No Overfitting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94960" y="3493008"/>
            <a:ext cx="336499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RMSE ($1,798) closely matches Test RMSE ($1,780). The model is stable and reliable for out-of-sample predictions.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of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B3D"/>
          </a:solidFill>
          <a:ln w="12700">
            <a:solidFill>
              <a:srgbClr val="0A2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Clients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658368" cy="126187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87782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High Prior-Year Cost Patients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51560" y="1261872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policyholders whose prior-year costs exceed $20,000 for proactive outreach, care coordination, and chronic disease management programs. The model can rank all active policyholders by predicted annual cost for efficient resource allocation.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94560"/>
            <a:ext cx="658368" cy="1261872"/>
          </a:xfrm>
          <a:prstGeom prst="rect">
            <a:avLst/>
          </a:prstGeom>
          <a:solidFill>
            <a:srgbClr val="14A4B8"/>
          </a:solidFill>
          <a:ln w="12700">
            <a:solidFill>
              <a:srgbClr val="14A4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7860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51560" y="226771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Smoking-Cessation &amp; Wellness Programs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51560" y="2651760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and hospital admissions are top modifiable risk factors. Insurers should offer premium discounts, smoking-cessation coaching, or wellness reimbursements. The model quantifies ~$3,500/year per smoker to justify the business case.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84448"/>
            <a:ext cx="658368" cy="1261872"/>
          </a:xfrm>
          <a:prstGeom prst="rect">
            <a:avLst/>
          </a:prstGeom>
          <a:solidFill>
            <a:srgbClr val="0A2B3D"/>
          </a:solidFill>
          <a:ln w="12700">
            <a:solidFill>
              <a:srgbClr val="0A2B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968496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51560" y="36576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Model for Dynamic Premium Re-Evaluation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51560" y="4041648"/>
            <a:ext cx="7680960" cy="7498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Run the model monthly or quarterly on updated patient data to detect emerging high-risk cases early — before a costly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hospitalization occurs. The 5.3% MAPE enables operational pricing decisions. Flag predicted increases </a:t>
            </a:r>
            <a:endParaRPr lang="en-US" sz="115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of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2743200" cy="36576"/>
          </a:xfrm>
          <a:prstGeom prst="rect">
            <a:avLst/>
          </a:prstGeom>
          <a:solidFill>
            <a:srgbClr val="14A4B8"/>
          </a:solidFill>
          <a:ln w="12700">
            <a:solidFill>
              <a:srgbClr val="14A4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for Further Research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46634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temporal / panel data for cost trajectory modeling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zip-code level socioeconomic &amp; provider access features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XGBoost / LightGBM for further RMSE reduction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fairness &amp; bias audit across demographic groups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sub-category models (hospitalization, medication, outpatient)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49240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49240" y="141732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— validate on real claims data before deployment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account for provider pricing variation or regional costs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 from same synthetic population — external validation recommended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policy changes not captured in model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3794760"/>
            <a:ext cx="8321040" cy="1005840"/>
          </a:xfrm>
          <a:prstGeom prst="rect">
            <a:avLst/>
          </a:prstGeom>
          <a:solidFill>
            <a:srgbClr val="0D3D52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58768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achieved R² = 0.9305 and RMSE = $1,780, explaining 93% of variance in annual medical costs — providing a clinically useful, interpretable, and operationally deployable prediction tool.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Capstone2_Final_Slides</dc:title>
  <dc:subject>PptxGenJS Presentation</dc:subject>
  <dc:creator>Data Science Capstone</dc:creator>
  <cp:lastModifiedBy>Data Science Capstone</cp:lastModifiedBy>
  <cp:revision>48</cp:revision>
  <dcterms:created xsi:type="dcterms:W3CDTF">2026-05-31T23:09:02Z</dcterms:created>
  <dcterms:modified xsi:type="dcterms:W3CDTF">2026-06-09T00:23:20Z</dcterms:modified>
</cp:coreProperties>
</file>